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25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8368"/>
            <a:ext cx="3749039" cy="6858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600" b="1">
                <a:solidFill>
                  <a:srgbClr val="08275E"/>
                </a:solidFill>
                <a:latin typeface="Aptos"/>
              </a:rPr>
              <a:t>CosmOS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426464"/>
            <a:ext cx="5212080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232D3C"/>
                </a:solidFill>
                <a:latin typeface="Microsoft YaHei"/>
              </a:rPr>
              <a:t>项目特色展示与汇报答辩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1947672"/>
            <a:ext cx="72237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400" b="0">
                <a:solidFill>
                  <a:srgbClr val="647082"/>
                </a:solidFill>
                <a:latin typeface="Microsoft YaHei"/>
              </a:rPr>
              <a:t>从 rCore 骨架到面向真实用户程序的实验型 Linux 兼容内核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248716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2546604"/>
            <a:ext cx="7772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SMP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73352" y="2487168"/>
            <a:ext cx="950976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73352" y="2546604"/>
            <a:ext cx="950976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Linux 语义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4056" y="248716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34056" y="2546604"/>
            <a:ext cx="7772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统一事件机制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21024" y="2487168"/>
            <a:ext cx="854964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21024" y="2546604"/>
            <a:ext cx="854964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跨架构 HAL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85716" y="2487168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85716" y="2546604"/>
            <a:ext cx="77724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性能观测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9440" y="841248"/>
            <a:ext cx="4297680" cy="4370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60920" y="1188720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E4EEFF"/>
          </a:solidFill>
          <a:ln w="127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16368" y="1280160"/>
            <a:ext cx="3200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08275E"/>
                </a:solidFill>
                <a:latin typeface="Microsoft YaHei"/>
              </a:rPr>
              <a:t>用户程序与 Linux 兼容环境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16368" y="1499616"/>
            <a:ext cx="32004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647082"/>
                </a:solidFill>
                <a:latin typeface="Microsoft YaHei"/>
              </a:rPr>
              <a:t>进程 / 文件描述符 / 信号 / 套接字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60920" y="2057400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D23030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16368" y="2148840"/>
            <a:ext cx="3200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系统服务层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368" y="2368296"/>
            <a:ext cx="32004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VFS · Signal · Poll · Network · Virtual FS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20" y="2926080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E4EEFF"/>
          </a:solidFill>
          <a:ln w="127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16368" y="3017520"/>
            <a:ext cx="3200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08275E"/>
                </a:solidFill>
                <a:latin typeface="Microsoft YaHei"/>
              </a:rPr>
              <a:t>内核核心层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16368" y="3236976"/>
            <a:ext cx="32004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647082"/>
                </a:solidFill>
                <a:latin typeface="Microsoft YaHei"/>
              </a:rPr>
              <a:t>调度 · 进程 · 内存 · 同步 · 回收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60920" y="3794759"/>
            <a:ext cx="3520440" cy="566928"/>
          </a:xfrm>
          <a:prstGeom prst="roundRect">
            <a:avLst>
              <a:gd name="adj" fmla="val 8000"/>
            </a:avLst>
          </a:prstGeom>
          <a:solidFill>
            <a:srgbClr val="08275E"/>
          </a:solidFill>
          <a:ln w="12700">
            <a:solidFill>
              <a:srgbClr val="08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16368" y="3886199"/>
            <a:ext cx="3200400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HAL 与平台层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16368" y="4105655"/>
            <a:ext cx="320040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0">
                <a:solidFill>
                  <a:srgbClr val="FFFFFF"/>
                </a:solidFill>
                <a:latin typeface="Microsoft YaHei"/>
              </a:rPr>
              <a:t>RISC-V 64 / LoongArch 64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" y="5230368"/>
            <a:ext cx="932688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800" b="1">
                <a:solidFill>
                  <a:srgbClr val="D23030"/>
                </a:solidFill>
                <a:latin typeface="Microsoft YaHei"/>
              </a:rPr>
              <a:t>答辩主线：用稳定基础设施承载真实 Linux 风格语义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01 / 项目定位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一句话定位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不是最小教学内核，而是可运行复杂用户程序的实验型 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1572768"/>
            <a:ext cx="2423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737360"/>
            <a:ext cx="2130552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D23030"/>
                </a:solidFill>
                <a:latin typeface="Microsoft YaHei"/>
              </a:rPr>
              <a:t>55k+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94560"/>
            <a:ext cx="209397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自主内核非注释代码量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572768"/>
            <a:ext cx="2423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1296" y="1737360"/>
            <a:ext cx="2130552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52BA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9584" y="2194560"/>
            <a:ext cx="209397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RISC-V 64 与 LoongArch 64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16752" y="1572768"/>
            <a:ext cx="2423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63056" y="1737360"/>
            <a:ext cx="2130552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D23030"/>
                </a:solidFill>
                <a:latin typeface="Microsoft YaHei"/>
              </a:rPr>
              <a:t>5级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194560"/>
            <a:ext cx="209397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文件系统缓存与可旁路实验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68512" y="1572768"/>
            <a:ext cx="242316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14816" y="1737360"/>
            <a:ext cx="2130552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52BA"/>
                </a:solidFill>
                <a:latin typeface="Microsoft YaHei"/>
              </a:rPr>
              <a:t>统一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33104" y="2194560"/>
            <a:ext cx="2093976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等待队列 / 信号 / poll / socket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3127248"/>
            <a:ext cx="10378440" cy="208483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7824" y="3255264"/>
            <a:ext cx="1004925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核心目标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675887"/>
            <a:ext cx="969264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700">
                <a:solidFill>
                  <a:srgbClr val="232D3C"/>
                </a:solidFill>
                <a:latin typeface="Microsoft YaHei"/>
              </a:rPr>
              <a:t>尽量接近 Linux 的进程、文件、信号、网络和设备语义</a:t>
            </a:r>
          </a:p>
          <a:p>
            <a:pPr>
              <a:spcAft>
                <a:spcPts val="880"/>
              </a:spcAft>
            </a:pPr>
            <a:r>
              <a:rPr sz="1700">
                <a:solidFill>
                  <a:srgbClr val="232D3C"/>
                </a:solidFill>
                <a:latin typeface="Microsoft YaHei"/>
              </a:rPr>
              <a:t>在 SMP 环境下维护调度、阻塞唤醒、页表修改和资源回收的不变式</a:t>
            </a:r>
          </a:p>
          <a:p>
            <a:pPr>
              <a:spcAft>
                <a:spcPts val="880"/>
              </a:spcAft>
            </a:pPr>
            <a:r>
              <a:rPr sz="1700">
                <a:solidFill>
                  <a:srgbClr val="232D3C"/>
                </a:solidFill>
                <a:latin typeface="Microsoft YaHei"/>
              </a:rPr>
              <a:t>通过 HAL 隔离架构差异，让内核主体复用到两套 ISA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02 / 叙事结构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汇报路线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用 6 个关键词快速说明 CosmOS 的工程价值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31546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50392" y="1764792"/>
            <a:ext cx="347472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824228"/>
            <a:ext cx="347472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1755648"/>
            <a:ext cx="21945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8275E"/>
                </a:solidFill>
                <a:latin typeface="Microsoft YaHei"/>
              </a:rPr>
              <a:t>资源模型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130552"/>
            <a:ext cx="2606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PCB/TCB 分离
fork/exec/exit/wait 生命周期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600200"/>
            <a:ext cx="31546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553712" y="1764792"/>
            <a:ext cx="347472" cy="292608"/>
          </a:xfrm>
          <a:prstGeom prst="roundRect">
            <a:avLst>
              <a:gd name="adj" fmla="val 50000"/>
            </a:avLst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53712" y="1824228"/>
            <a:ext cx="347472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755648"/>
            <a:ext cx="21945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8275E"/>
                </a:solidFill>
                <a:latin typeface="Microsoft YaHei"/>
              </a:rPr>
              <a:t>并发正确性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2" y="2130552"/>
            <a:ext cx="2606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per-hart 调度
三段式阻塞与唤醒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600200"/>
            <a:ext cx="31546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57032" y="1764792"/>
            <a:ext cx="347472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2" y="1824228"/>
            <a:ext cx="347472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0808" y="1755648"/>
            <a:ext cx="21945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8275E"/>
                </a:solidFill>
                <a:latin typeface="Microsoft YaHei"/>
              </a:rPr>
              <a:t>内存一致性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2" y="2130552"/>
            <a:ext cx="2606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VMA + PageTable
COW / TLB shootdown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520440"/>
            <a:ext cx="31546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50392" y="3685032"/>
            <a:ext cx="347472" cy="292608"/>
          </a:xfrm>
          <a:prstGeom prst="roundRect">
            <a:avLst>
              <a:gd name="adj" fmla="val 50000"/>
            </a:avLst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" y="3744468"/>
            <a:ext cx="347472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3675888"/>
            <a:ext cx="21945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8275E"/>
                </a:solidFill>
                <a:latin typeface="Microsoft YaHei"/>
              </a:rPr>
              <a:t>I/O 数据面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" y="4050792"/>
            <a:ext cx="2606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统一 File 对象
五级缓存与快路径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520440"/>
            <a:ext cx="31546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553712" y="3685032"/>
            <a:ext cx="347472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53712" y="3744468"/>
            <a:ext cx="347472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3675888"/>
            <a:ext cx="21945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8275E"/>
                </a:solidFill>
                <a:latin typeface="Microsoft YaHei"/>
              </a:rPr>
              <a:t>事件与网络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45152" y="4050792"/>
            <a:ext cx="2606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Signal / Poll / Socket
软中断式 polling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2440" y="3520440"/>
            <a:ext cx="31546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257032" y="3685032"/>
            <a:ext cx="347472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57032" y="3744468"/>
            <a:ext cx="347472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50808" y="3675888"/>
            <a:ext cx="21945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08275E"/>
                </a:solidFill>
                <a:latin typeface="Microsoft YaHei"/>
              </a:rPr>
              <a:t>跨架构与观测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8472" y="4050792"/>
            <a:ext cx="260604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HAL trait
io_perf / perf_probe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03 / 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系统总览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四层结构 + 横向统一对象模型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h1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88566"/>
            <a:ext cx="6629400" cy="32557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517904"/>
            <a:ext cx="3566160" cy="4041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08392" y="1645920"/>
            <a:ext cx="666849" cy="20005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 dirty="0" err="1">
                <a:solidFill>
                  <a:srgbClr val="08275E"/>
                </a:solidFill>
                <a:latin typeface="Microsoft YaHei"/>
              </a:rPr>
              <a:t>三条主线</a:t>
            </a:r>
            <a:endParaRPr sz="1300" b="1" dirty="0">
              <a:solidFill>
                <a:srgbClr val="08275E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18120" y="2103120"/>
            <a:ext cx="3144848" cy="17600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400" dirty="0" err="1">
                <a:solidFill>
                  <a:srgbClr val="232D3C"/>
                </a:solidFill>
                <a:latin typeface="Microsoft YaHei"/>
              </a:rPr>
              <a:t>统一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File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对象承载普通文件、设备、管道、终端和套接字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 marL="285750" indent="-2857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400" dirty="0" err="1">
                <a:solidFill>
                  <a:srgbClr val="232D3C"/>
                </a:solidFill>
                <a:latin typeface="Microsoft YaHei"/>
              </a:rPr>
              <a:t>等待队列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/ poll /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信号贯穿文件、进程、同步和网络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 marL="285750" indent="-2857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400" dirty="0">
                <a:solidFill>
                  <a:srgbClr val="232D3C"/>
                </a:solidFill>
                <a:latin typeface="Microsoft YaHei"/>
              </a:rPr>
              <a:t>HAL 将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trap、IRQ、paging、timer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差异压到边界</a:t>
            </a:r>
            <a:endParaRPr sz="14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18120" y="4892040"/>
            <a:ext cx="29718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D23030"/>
                </a:solidFill>
                <a:latin typeface="Microsoft YaHei"/>
              </a:rPr>
              <a:t>重点不是模块堆叠，而是共享机制沉淀。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04 / 工程规模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代码组织与工程体量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模块边界和文档结构基本对齐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kernel_code_tre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67510"/>
            <a:ext cx="5943600" cy="37973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03720" y="1417320"/>
            <a:ext cx="416052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068312" y="1545336"/>
            <a:ext cx="38313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目录映射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74804" y="1920240"/>
            <a:ext cx="77905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23030"/>
                </a:solidFill>
                <a:latin typeface="Aptos"/>
              </a:rPr>
              <a:t>os/src/sched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42352" y="1920240"/>
            <a:ext cx="188513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调度类、运行队列、上下文切换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4804" y="2359152"/>
            <a:ext cx="673261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23030"/>
                </a:solidFill>
                <a:latin typeface="Aptos"/>
              </a:rPr>
              <a:t>os/src/task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2352" y="2359152"/>
            <a:ext cx="159178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PCB / TCB / 进程生命周期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74804" y="2798064"/>
            <a:ext cx="65081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23030"/>
                </a:solidFill>
                <a:latin typeface="Aptos"/>
              </a:rPr>
              <a:t>os/src/mm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42352" y="2798064"/>
            <a:ext cx="232275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页表、VMA、COW、TLB shootdown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74804" y="3236976"/>
            <a:ext cx="811119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23030"/>
                </a:solidFill>
                <a:latin typeface="Aptos"/>
              </a:rPr>
              <a:t>os/src/fs + fs/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2352" y="3236976"/>
            <a:ext cx="212558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VFS、多后端、缓存、虚拟文件系统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74804" y="3675888"/>
            <a:ext cx="612347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23030"/>
                </a:solidFill>
                <a:latin typeface="Aptos"/>
              </a:rPr>
              <a:t>os/src/net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42352" y="3675888"/>
            <a:ext cx="184185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socket、smoltcp、VirtIO-net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4804" y="4114800"/>
            <a:ext cx="1617430" cy="153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1">
                <a:solidFill>
                  <a:srgbClr val="D23030"/>
                </a:solidFill>
                <a:latin typeface="Aptos"/>
              </a:rPr>
              <a:t>os/src/hal + arch + platform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2352" y="4114800"/>
            <a:ext cx="134652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跨架构抽象与平台适配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05 / 调度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特色一：SMP 调度不是一个队列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per-hart 运行队列 + 多调度类 + 延迟抢占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cheduler_path_blue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04217"/>
            <a:ext cx="6400800" cy="33787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444752"/>
            <a:ext cx="370332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25512" y="1572768"/>
            <a:ext cx="33741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设计重点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39" y="1965960"/>
            <a:ext cx="3264409" cy="23925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  <a:defRPr sz="1400">
                <a:solidFill>
                  <a:srgbClr val="232D3C"/>
                </a:solidFill>
                <a:latin typeface="Microsoft YaHei"/>
              </a:defRPr>
            </a:lvl1pPr>
          </a:lstStyle>
          <a:p>
            <a:r>
              <a:rPr dirty="0" err="1"/>
              <a:t>实时类：SCHED_FIFO</a:t>
            </a:r>
            <a:r>
              <a:rPr dirty="0"/>
              <a:t> / </a:t>
            </a:r>
            <a:r>
              <a:rPr dirty="0" err="1"/>
              <a:t>SCHED_RR，优先级语义明确</a:t>
            </a:r>
            <a:endParaRPr dirty="0"/>
          </a:p>
          <a:p>
            <a:r>
              <a:rPr dirty="0" err="1"/>
              <a:t>普通类：CFS</a:t>
            </a:r>
            <a:r>
              <a:rPr dirty="0"/>
              <a:t> </a:t>
            </a:r>
            <a:r>
              <a:rPr dirty="0" err="1"/>
              <a:t>风格</a:t>
            </a:r>
            <a:r>
              <a:rPr dirty="0"/>
              <a:t> </a:t>
            </a:r>
            <a:r>
              <a:rPr dirty="0" err="1"/>
              <a:t>vruntime，nice</a:t>
            </a:r>
            <a:r>
              <a:rPr dirty="0"/>
              <a:t> </a:t>
            </a:r>
            <a:r>
              <a:rPr dirty="0" err="1"/>
              <a:t>权重影响公平时间轴</a:t>
            </a:r>
            <a:endParaRPr dirty="0"/>
          </a:p>
          <a:p>
            <a:r>
              <a:rPr dirty="0"/>
              <a:t>timer / IPI </a:t>
            </a:r>
            <a:r>
              <a:rPr dirty="0" err="1"/>
              <a:t>只设置</a:t>
            </a:r>
            <a:r>
              <a:rPr dirty="0"/>
              <a:t> </a:t>
            </a:r>
            <a:r>
              <a:rPr dirty="0" err="1"/>
              <a:t>resched_reason，在安全点统一切换</a:t>
            </a:r>
            <a:endParaRPr dirty="0"/>
          </a:p>
          <a:p>
            <a:r>
              <a:rPr dirty="0" err="1"/>
              <a:t>任务先切回</a:t>
            </a:r>
            <a:r>
              <a:rPr dirty="0"/>
              <a:t> hart 的 idle </a:t>
            </a:r>
            <a:r>
              <a:rPr dirty="0" err="1"/>
              <a:t>调度上下文，再选择下一任务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635240" y="5138928"/>
            <a:ext cx="3154680" cy="292608"/>
          </a:xfrm>
          <a:prstGeom prst="roundRect">
            <a:avLst>
              <a:gd name="adj" fmla="val 50000"/>
            </a:avLst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35240" y="5198364"/>
            <a:ext cx="315468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核心价值：减少锁竞争，并让上下文切换边界可推理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06 / SMP 不变式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阻塞—唤醒正确性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task_status / on_rq / on_cpu 三个状态各管一件事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2880360" cy="1417320"/>
          </a:xfrm>
          <a:prstGeom prst="roundRect">
            <a:avLst>
              <a:gd name="adj" fmla="val 8000"/>
            </a:avLst>
          </a:prstGeom>
          <a:solidFill>
            <a:srgbClr val="E4EEFF"/>
          </a:solidFill>
          <a:ln w="127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682496"/>
            <a:ext cx="25511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task_status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084831"/>
            <a:ext cx="2331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32D3C"/>
                </a:solidFill>
                <a:latin typeface="Microsoft YaHei"/>
              </a:rPr>
              <a:t>语义状态
Runnable / Interruptible / Zombie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1554480"/>
            <a:ext cx="2880360" cy="1417320"/>
          </a:xfrm>
          <a:prstGeom prst="roundRect">
            <a:avLst>
              <a:gd name="adj" fmla="val 8000"/>
            </a:avLst>
          </a:prstGeom>
          <a:solidFill>
            <a:srgbClr val="E4EEFF"/>
          </a:solidFill>
          <a:ln w="127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1682496"/>
            <a:ext cx="25511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sched.on_rq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28032" y="2084831"/>
            <a:ext cx="2331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32D3C"/>
                </a:solidFill>
                <a:latin typeface="Microsoft YaHei"/>
              </a:rPr>
              <a:t>是否已挂入
某条运行队列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554480"/>
            <a:ext cx="2880360" cy="1417320"/>
          </a:xfrm>
          <a:prstGeom prst="roundRect">
            <a:avLst>
              <a:gd name="adj" fmla="val 8000"/>
            </a:avLst>
          </a:prstGeom>
          <a:solidFill>
            <a:srgbClr val="FFEBEB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85632" y="1682496"/>
            <a:ext cx="25511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on_cpu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7072" y="2084831"/>
            <a:ext cx="2331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0">
                <a:solidFill>
                  <a:srgbClr val="232D3C"/>
                </a:solidFill>
                <a:latin typeface="Microsoft YaHei"/>
              </a:rPr>
              <a:t>寄存器现场是否
仍归某个 hart 所有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67712" y="3063240"/>
            <a:ext cx="0" cy="640080"/>
          </a:xfrm>
          <a:prstGeom prst="line">
            <a:avLst/>
          </a:prstGeom>
          <a:ln w="22860">
            <a:solidFill>
              <a:srgbClr val="D2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16752" y="3063240"/>
            <a:ext cx="0" cy="640080"/>
          </a:xfrm>
          <a:prstGeom prst="line">
            <a:avLst/>
          </a:prstGeom>
          <a:ln w="22860">
            <a:solidFill>
              <a:srgbClr val="D2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65792" y="3063240"/>
            <a:ext cx="0" cy="640080"/>
          </a:xfrm>
          <a:prstGeom prst="line">
            <a:avLst/>
          </a:prstGeom>
          <a:ln w="22860">
            <a:solidFill>
              <a:srgbClr val="D230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560" y="3749038"/>
            <a:ext cx="9966960" cy="142646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16152" y="3877055"/>
            <a:ext cx="96377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关键协议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224528"/>
            <a:ext cx="9326880" cy="5029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阻塞路径：入等待队列 → 复查条件 → 真正切出 CPU，关闭丢失唤醒窗口</a:t>
            </a:r>
          </a:p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跨 hart 唤醒：若 on_cpu 仍为 true，等待原 hart 完成寄存器保存后再入队</a:t>
            </a:r>
          </a:p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退出路径：当前任务内核栈延迟释放，避免切换仍踩在已回收栈上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420" y="5449824"/>
            <a:ext cx="98755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 dirty="0" err="1">
                <a:solidFill>
                  <a:srgbClr val="D23030"/>
                </a:solidFill>
                <a:latin typeface="Microsoft YaHei"/>
              </a:rPr>
              <a:t>结论：任务不会同时处在</a:t>
            </a:r>
            <a:r>
              <a:rPr sz="1400" b="1" dirty="0">
                <a:solidFill>
                  <a:srgbClr val="D23030"/>
                </a:solidFill>
                <a:latin typeface="Microsoft YaHei"/>
              </a:rPr>
              <a:t> current 与 </a:t>
            </a:r>
            <a:r>
              <a:rPr sz="1400" b="1" dirty="0" err="1">
                <a:solidFill>
                  <a:srgbClr val="D23030"/>
                </a:solidFill>
                <a:latin typeface="Microsoft YaHei"/>
              </a:rPr>
              <a:t>runqueue，也不会在半保存现场被迁移</a:t>
            </a:r>
            <a:r>
              <a:rPr sz="1400" b="1" dirty="0">
                <a:solidFill>
                  <a:srgbClr val="D23030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07 / 进程管理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特色二：进程是资源容器，任务是调度实体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fork / clone / exec / exit / wait 围绕 PCB 生命周期展开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66420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792224"/>
            <a:ext cx="20025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clone/fork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0173" y="2139696"/>
            <a:ext cx="1245854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647082"/>
                </a:solidFill>
                <a:latin typeface="Microsoft YaHei"/>
              </a:rPr>
              <a:t>复制或共享资源</a:t>
            </a:r>
            <a:r>
              <a:rPr sz="1200" b="0" dirty="0">
                <a:solidFill>
                  <a:srgbClr val="647082"/>
                </a:solidFill>
                <a:latin typeface="Microsoft YaHei"/>
              </a:rPr>
              <a:t>
</a:t>
            </a:r>
            <a:r>
              <a:rPr sz="1200" b="0" dirty="0" err="1">
                <a:solidFill>
                  <a:srgbClr val="647082"/>
                </a:solidFill>
                <a:latin typeface="Microsoft YaHei"/>
              </a:rPr>
              <a:t>修补</a:t>
            </a:r>
            <a:r>
              <a:rPr sz="1200" b="0" dirty="0">
                <a:solidFill>
                  <a:srgbClr val="647082"/>
                </a:solidFill>
                <a:latin typeface="Microsoft YaHei"/>
              </a:rPr>
              <a:t> trap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136392" y="2212848"/>
            <a:ext cx="365760" cy="0"/>
          </a:xfrm>
          <a:prstGeom prst="line">
            <a:avLst/>
          </a:prstGeom>
          <a:ln w="20320">
            <a:solidFill>
              <a:srgbClr val="0F52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166420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30752" y="1792224"/>
            <a:ext cx="20025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exec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93411" y="2139696"/>
            <a:ext cx="1077218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 dirty="0" err="1">
                <a:solidFill>
                  <a:srgbClr val="647082"/>
                </a:solidFill>
                <a:latin typeface="Microsoft YaHei"/>
              </a:rPr>
              <a:t>保留</a:t>
            </a:r>
            <a:r>
              <a:rPr sz="1200" b="0" dirty="0">
                <a:solidFill>
                  <a:srgbClr val="647082"/>
                </a:solidFill>
                <a:latin typeface="Microsoft YaHei"/>
              </a:rPr>
              <a:t> PID
</a:t>
            </a:r>
            <a:r>
              <a:rPr sz="1200" b="0" dirty="0" err="1">
                <a:solidFill>
                  <a:srgbClr val="647082"/>
                </a:solidFill>
                <a:latin typeface="Microsoft YaHei"/>
              </a:rPr>
              <a:t>替换用户态映像</a:t>
            </a:r>
            <a:endParaRPr sz="1200" b="0" dirty="0">
              <a:solidFill>
                <a:srgbClr val="647082"/>
              </a:solidFill>
              <a:latin typeface="Microsoft YaHe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925312" y="2212848"/>
            <a:ext cx="365760" cy="0"/>
          </a:xfrm>
          <a:prstGeom prst="line">
            <a:avLst/>
          </a:prstGeom>
          <a:ln w="20320">
            <a:solidFill>
              <a:srgbClr val="0F52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355079" y="166420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19671" y="1792224"/>
            <a:ext cx="20025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exit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28441" y="2139696"/>
            <a:ext cx="1384995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647082"/>
                </a:solidFill>
                <a:latin typeface="Microsoft YaHei"/>
              </a:rPr>
              <a:t>进入 zombie
释放可立即回收资源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14231" y="2212848"/>
            <a:ext cx="365760" cy="0"/>
          </a:xfrm>
          <a:prstGeom prst="line">
            <a:avLst/>
          </a:prstGeom>
          <a:ln w="20320">
            <a:solidFill>
              <a:srgbClr val="0F52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3999" y="1664208"/>
            <a:ext cx="23317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308591" y="1792224"/>
            <a:ext cx="20025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wait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71250" y="2139696"/>
            <a:ext cx="1077218" cy="3693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200" b="0">
                <a:solidFill>
                  <a:srgbClr val="647082"/>
                </a:solidFill>
                <a:latin typeface="Microsoft YaHei"/>
              </a:rPr>
              <a:t>父进程读取状态
真正 drop PCB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429000"/>
            <a:ext cx="4800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78992" y="3557016"/>
            <a:ext cx="447141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PCB 管资源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432" y="3886200"/>
            <a:ext cx="429768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地址空间 / fd 表 / cwd-root / 凭据</a:t>
            </a:r>
          </a:p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信号处置 / 资源限制 / 子进程集合</a:t>
            </a:r>
          </a:p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线程集合 / 时间统计 / wait_exit_queue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429000"/>
            <a:ext cx="480060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65392" y="3557016"/>
            <a:ext cx="447141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TCB 管执行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3886200"/>
            <a:ext cx="429768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内核栈 / trap context / 调度状态</a:t>
            </a:r>
          </a:p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Linux 可见 tid / clear_child_tid</a:t>
            </a:r>
          </a:p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等待原因 / 信号屏蔽 / on_cpu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413248"/>
            <a:ext cx="996696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D23030"/>
                </a:solidFill>
                <a:latin typeface="Microsoft YaHei"/>
              </a:rPr>
              <a:t>发布顺序是红线：用户栈、trap context、PID 表项准备好之后，任务才能入队。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08 / 内存管理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特色三：内存管理是全内核的数据面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VMA 保存语义，PageTable 承载硬件状态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mm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01622"/>
            <a:ext cx="6446520" cy="37747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481328"/>
            <a:ext cx="3703320" cy="42245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25512" y="1609344"/>
            <a:ext cx="33741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三层理解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2057400"/>
            <a:ext cx="3063240" cy="143116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  <a:defRPr sz="1400">
                <a:solidFill>
                  <a:srgbClr val="232D3C"/>
                </a:solidFill>
                <a:latin typeface="Microsoft YaHei"/>
              </a:defRPr>
            </a:lvl1pPr>
          </a:lstStyle>
          <a:p>
            <a:r>
              <a:rPr dirty="0" err="1"/>
              <a:t>基础资源层：bootinfo</a:t>
            </a:r>
            <a:r>
              <a:rPr dirty="0"/>
              <a:t> → </a:t>
            </a:r>
            <a:r>
              <a:rPr dirty="0" err="1"/>
              <a:t>BuddyFrameAllocator</a:t>
            </a:r>
            <a:r>
              <a:rPr dirty="0"/>
              <a:t> → </a:t>
            </a:r>
            <a:r>
              <a:rPr dirty="0" err="1"/>
              <a:t>FrameTracker</a:t>
            </a:r>
            <a:endParaRPr dirty="0"/>
          </a:p>
          <a:p>
            <a:r>
              <a:rPr dirty="0" err="1"/>
              <a:t>地址空间层：KERNEL_SPACE</a:t>
            </a:r>
            <a:r>
              <a:rPr dirty="0"/>
              <a:t> </a:t>
            </a:r>
            <a:r>
              <a:rPr dirty="0" err="1"/>
              <a:t>与每进程</a:t>
            </a:r>
            <a:r>
              <a:rPr dirty="0"/>
              <a:t> </a:t>
            </a:r>
            <a:r>
              <a:rPr dirty="0" err="1"/>
              <a:t>MemorySet</a:t>
            </a:r>
            <a:r>
              <a:rPr dirty="0"/>
              <a:t> / VMA</a:t>
            </a:r>
          </a:p>
          <a:p>
            <a:r>
              <a:rPr dirty="0" err="1"/>
              <a:t>运行期机制：page</a:t>
            </a:r>
            <a:r>
              <a:rPr dirty="0"/>
              <a:t> </a:t>
            </a:r>
            <a:r>
              <a:rPr dirty="0" err="1"/>
              <a:t>fault、COW、page</a:t>
            </a:r>
            <a:r>
              <a:rPr dirty="0"/>
              <a:t> </a:t>
            </a:r>
            <a:r>
              <a:rPr dirty="0" err="1"/>
              <a:t>cache、TLB</a:t>
            </a:r>
            <a:r>
              <a:rPr dirty="0"/>
              <a:t> shootdown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4828032"/>
            <a:ext cx="3332644" cy="424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D23030"/>
                </a:solidFill>
                <a:latin typeface="Microsoft YaHei"/>
              </a:rPr>
              <a:t>旧页不能立即释放：先清</a:t>
            </a:r>
            <a:r>
              <a:rPr sz="1200" b="1" dirty="0">
                <a:solidFill>
                  <a:srgbClr val="D23030"/>
                </a:solidFill>
                <a:latin typeface="Microsoft YaHei"/>
              </a:rPr>
              <a:t> </a:t>
            </a:r>
            <a:r>
              <a:rPr sz="1200" b="1" dirty="0" err="1">
                <a:solidFill>
                  <a:srgbClr val="D23030"/>
                </a:solidFill>
                <a:latin typeface="Microsoft YaHei"/>
              </a:rPr>
              <a:t>PTE，再</a:t>
            </a:r>
            <a:r>
              <a:rPr sz="1200" b="1" dirty="0">
                <a:solidFill>
                  <a:srgbClr val="D23030"/>
                </a:solidFill>
                <a:latin typeface="Microsoft YaHei"/>
              </a:rPr>
              <a:t> </a:t>
            </a:r>
            <a:r>
              <a:rPr sz="1200" b="1" dirty="0" err="1">
                <a:solidFill>
                  <a:srgbClr val="D23030"/>
                </a:solidFill>
                <a:latin typeface="Microsoft YaHei"/>
              </a:rPr>
              <a:t>shootdown，最后</a:t>
            </a:r>
            <a:r>
              <a:rPr sz="1200" b="1" dirty="0">
                <a:solidFill>
                  <a:srgbClr val="D23030"/>
                </a:solidFill>
                <a:latin typeface="Microsoft YaHei"/>
              </a:rPr>
              <a:t> deferred reclaim。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09 / 内存关键路径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VMA / COW / Page Cache / TLB 的一致性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把用户可见语义落到页生命周期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48006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636776"/>
            <a:ext cx="1231106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8275E"/>
                </a:solidFill>
                <a:latin typeface="Microsoft YaHei"/>
              </a:rPr>
              <a:t>合法但未映射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02536"/>
            <a:ext cx="1918795" cy="4951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dirty="0">
                <a:solidFill>
                  <a:srgbClr val="647082"/>
                </a:solidFill>
                <a:latin typeface="Microsoft YaHei"/>
              </a:rPr>
              <a:t>VMA </a:t>
            </a:r>
            <a:r>
              <a:rPr sz="1400" b="0" dirty="0" err="1">
                <a:solidFill>
                  <a:srgbClr val="647082"/>
                </a:solidFill>
                <a:latin typeface="Microsoft YaHei"/>
              </a:rPr>
              <a:t>存在，PTE</a:t>
            </a:r>
            <a:r>
              <a:rPr sz="1400" b="0" dirty="0">
                <a:solidFill>
                  <a:srgbClr val="647082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647082"/>
                </a:solidFill>
                <a:latin typeface="Microsoft YaHei"/>
              </a:rPr>
              <a:t>不存在</a:t>
            </a:r>
            <a:r>
              <a:rPr sz="1400" b="0" dirty="0">
                <a:solidFill>
                  <a:srgbClr val="647082"/>
                </a:solidFill>
                <a:latin typeface="Microsoft YaHei"/>
              </a:rPr>
              <a:t>
</a:t>
            </a:r>
            <a:r>
              <a:rPr sz="1400" b="0" dirty="0" err="1">
                <a:solidFill>
                  <a:srgbClr val="647082"/>
                </a:solidFill>
                <a:latin typeface="Microsoft YaHei"/>
              </a:rPr>
              <a:t>缺页时按语义物化</a:t>
            </a:r>
            <a:endParaRPr sz="1400" b="0" dirty="0">
              <a:solidFill>
                <a:srgbClr val="647082"/>
              </a:solidFill>
              <a:latin typeface="Microsoft YaHe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263640" y="1508760"/>
            <a:ext cx="48006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1359859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8275E"/>
                </a:solidFill>
                <a:latin typeface="Microsoft YaHei"/>
              </a:rPr>
              <a:t>私有页 / COW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002536"/>
            <a:ext cx="1293624" cy="4951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082"/>
                </a:solidFill>
                <a:latin typeface="Microsoft YaHei"/>
              </a:rPr>
              <a:t>fork 后降权共享
写缺页再复制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79"/>
            <a:ext cx="48006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3511295"/>
            <a:ext cx="820738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>
                <a:solidFill>
                  <a:srgbClr val="08275E"/>
                </a:solidFill>
                <a:latin typeface="Microsoft YaHei"/>
              </a:rPr>
              <a:t>文件映射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77055"/>
            <a:ext cx="3193823" cy="4951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082"/>
                </a:solidFill>
                <a:latin typeface="Microsoft YaHei"/>
              </a:rPr>
              <a:t>MAP_SHARED 可直接映射 page cache
truncate 需要失效映射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83279"/>
            <a:ext cx="4800600" cy="1078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28232" y="3511295"/>
            <a:ext cx="184242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600" b="1" dirty="0" err="1">
                <a:solidFill>
                  <a:srgbClr val="08275E"/>
                </a:solidFill>
                <a:latin typeface="Microsoft YaHei"/>
              </a:rPr>
              <a:t>回收与</a:t>
            </a:r>
            <a:r>
              <a:rPr sz="1600" b="1" dirty="0">
                <a:solidFill>
                  <a:srgbClr val="08275E"/>
                </a:solidFill>
                <a:latin typeface="Microsoft YaHei"/>
              </a:rPr>
              <a:t> shootdown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877055"/>
            <a:ext cx="1436291" cy="49513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647082"/>
                </a:solidFill>
                <a:latin typeface="Microsoft YaHei"/>
              </a:rPr>
              <a:t>降权/拆映射/换页
必须处理远端 TLB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486400"/>
            <a:ext cx="97840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>
                <a:solidFill>
                  <a:srgbClr val="D23030"/>
                </a:solidFill>
                <a:latin typeface="Microsoft YaHei"/>
              </a:rPr>
              <a:t>一句话：页表只是硬件事实，VMA 才是可恢复的用户语义。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10 / 文件子系统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特色四：统一文件对象与五级缓存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普通文件、设备、pipe、tty、socket 共享 fd / poll 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ilesystem_stack_bluegreen_draw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7594"/>
            <a:ext cx="6766560" cy="40411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43800" y="1417320"/>
            <a:ext cx="3611880" cy="4315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08392" y="1545336"/>
            <a:ext cx="923330" cy="27699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b="1" dirty="0" err="1">
                <a:solidFill>
                  <a:srgbClr val="08275E"/>
                </a:solidFill>
                <a:latin typeface="Microsoft YaHei"/>
              </a:rPr>
              <a:t>缓存分工</a:t>
            </a:r>
            <a:endParaRPr b="1" dirty="0">
              <a:solidFill>
                <a:srgbClr val="08275E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18120" y="1993392"/>
            <a:ext cx="2111155" cy="15388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400" dirty="0" err="1">
                <a:solidFill>
                  <a:srgbClr val="232D3C"/>
                </a:solidFill>
                <a:latin typeface="Microsoft YaHei"/>
              </a:rPr>
              <a:t>Stat：inode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属性快照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>
              <a:spcAft>
                <a:spcPts val="880"/>
              </a:spcAft>
            </a:pPr>
            <a:r>
              <a:rPr sz="1400" dirty="0" err="1">
                <a:solidFill>
                  <a:srgbClr val="232D3C"/>
                </a:solidFill>
                <a:latin typeface="Microsoft YaHei"/>
              </a:rPr>
              <a:t>Dentry：路径分量解析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>
              <a:spcAft>
                <a:spcPts val="880"/>
              </a:spcAft>
            </a:pPr>
            <a:r>
              <a:rPr sz="1400" dirty="0" err="1">
                <a:solidFill>
                  <a:srgbClr val="232D3C"/>
                </a:solidFill>
                <a:latin typeface="Microsoft YaHei"/>
              </a:rPr>
              <a:t>Inode：同一文件身份复用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>
              <a:spcAft>
                <a:spcPts val="880"/>
              </a:spcAft>
            </a:pPr>
            <a:r>
              <a:rPr sz="1400" dirty="0">
                <a:solidFill>
                  <a:srgbClr val="232D3C"/>
                </a:solidFill>
                <a:latin typeface="Microsoft YaHei"/>
              </a:rPr>
              <a:t>Page：4 KB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文件数据页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>
              <a:spcAft>
                <a:spcPts val="880"/>
              </a:spcAft>
            </a:pPr>
            <a:r>
              <a:rPr sz="1400" dirty="0">
                <a:solidFill>
                  <a:srgbClr val="232D3C"/>
                </a:solidFill>
                <a:latin typeface="Microsoft YaHei"/>
              </a:rPr>
              <a:t>Block：512 B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磁盘块收口</a:t>
            </a:r>
            <a:endParaRPr sz="14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818120" y="5074920"/>
            <a:ext cx="292608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D23030"/>
                </a:solidFill>
                <a:latin typeface="Microsoft YaHei"/>
              </a:rPr>
              <a:t>独立旁路开关让性能收益可以逐级归因。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11 / 性能数据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文件 I/O 性能：缓存收益清晰可解释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iozone / 目录遍历 / du / ls-al 均可用计数器交叉验证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13232" y="1417320"/>
            <a:ext cx="502920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45336"/>
            <a:ext cx="470001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Page cache 对 iozone 的影响（KB/s）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107899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32D3C"/>
                </a:solidFill>
                <a:latin typeface="Microsoft YaHei"/>
              </a:rPr>
              <a:t>顺序读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0552" y="2075688"/>
            <a:ext cx="131897" cy="100584"/>
          </a:xfrm>
          <a:prstGeom prst="rect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130552" y="2231136"/>
            <a:ext cx="2971800" cy="100584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175504" y="2148840"/>
            <a:ext cx="4114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22x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001518"/>
            <a:ext cx="107899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32D3C"/>
                </a:solidFill>
                <a:latin typeface="Microsoft YaHei"/>
              </a:rPr>
              <a:t>顺序写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130552" y="2974086"/>
            <a:ext cx="68257" cy="100584"/>
          </a:xfrm>
          <a:prstGeom prst="rect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130552" y="3129534"/>
            <a:ext cx="2352736" cy="100584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75504" y="3047238"/>
            <a:ext cx="4114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34x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3899916"/>
            <a:ext cx="107899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32D3C"/>
                </a:solidFill>
                <a:latin typeface="Microsoft YaHei"/>
              </a:rPr>
              <a:t>随机读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30552" y="3872484"/>
            <a:ext cx="26" cy="100584"/>
          </a:xfrm>
          <a:prstGeom prst="rect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130552" y="4027932"/>
            <a:ext cx="80" cy="100584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75504" y="3945636"/>
            <a:ext cx="4114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3x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798314"/>
            <a:ext cx="107899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232D3C"/>
                </a:solidFill>
                <a:latin typeface="Microsoft YaHei"/>
              </a:rPr>
              <a:t>随机写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30552" y="4770882"/>
            <a:ext cx="26" cy="100584"/>
          </a:xfrm>
          <a:prstGeom prst="rect">
            <a:avLst/>
          </a:prstGeom>
          <a:solidFill>
            <a:srgbClr val="AAB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130552" y="4926330"/>
            <a:ext cx="58" cy="100584"/>
          </a:xfrm>
          <a:prstGeom prst="rect">
            <a:avLst/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75504" y="4844034"/>
            <a:ext cx="411480" cy="1463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2.2x</a:t>
            </a:r>
          </a:p>
        </p:txBody>
      </p:sp>
      <p:pic>
        <p:nvPicPr>
          <p:cNvPr id="26" name="Picture 25" descr="fs_page_cache_io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60739"/>
            <a:ext cx="5257800" cy="24565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398016" y="5897880"/>
            <a:ext cx="7182607" cy="24622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600" b="1" dirty="0" err="1">
                <a:solidFill>
                  <a:srgbClr val="D23030"/>
                </a:solidFill>
                <a:latin typeface="Microsoft YaHei"/>
              </a:rPr>
              <a:t>读写提升不是“凭感觉</a:t>
            </a:r>
            <a:r>
              <a:rPr sz="1600" b="1" dirty="0">
                <a:solidFill>
                  <a:srgbClr val="D23030"/>
                </a:solidFill>
                <a:latin typeface="Microsoft YaHei"/>
              </a:rPr>
              <a:t>”：/proc/</a:t>
            </a:r>
            <a:r>
              <a:rPr sz="1600" b="1" dirty="0" err="1">
                <a:solidFill>
                  <a:srgbClr val="D23030"/>
                </a:solidFill>
                <a:latin typeface="Microsoft YaHei"/>
              </a:rPr>
              <a:t>io_perf</a:t>
            </a:r>
            <a:r>
              <a:rPr sz="1600" b="1" dirty="0">
                <a:solidFill>
                  <a:srgbClr val="D23030"/>
                </a:solidFill>
                <a:latin typeface="Microsoft YaHei"/>
              </a:rPr>
              <a:t> </a:t>
            </a:r>
            <a:r>
              <a:rPr sz="1600" b="1" dirty="0" err="1">
                <a:solidFill>
                  <a:srgbClr val="D23030"/>
                </a:solidFill>
                <a:latin typeface="Microsoft YaHei"/>
              </a:rPr>
              <a:t>能看到命中、未命中、回写与淘汰</a:t>
            </a:r>
            <a:r>
              <a:rPr sz="1600" b="1" dirty="0">
                <a:solidFill>
                  <a:srgbClr val="D23030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12 / I/O 快路径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小 I/O 快路径：优化每次 syscall 的固定成本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fd 查找缓存 + 单页零分配缓冲 + 每描述符热页缓存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s_fastpath_ioz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317803"/>
            <a:ext cx="6812280" cy="440527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536192"/>
            <a:ext cx="338328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91271" y="1664208"/>
            <a:ext cx="30540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收益特征</a:t>
            </a:r>
            <a:endParaRPr sz="1300" b="1" dirty="0">
              <a:solidFill>
                <a:srgbClr val="08275E"/>
              </a:solidFill>
              <a:latin typeface="Microsoft YaHe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91271" y="2131142"/>
            <a:ext cx="2788920" cy="2057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300" dirty="0">
                <a:solidFill>
                  <a:srgbClr val="232D3C"/>
                </a:solidFill>
                <a:latin typeface="Microsoft YaHei"/>
              </a:rPr>
              <a:t>1 KB / 4 KB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小记录普遍提升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20%–30%</a:t>
            </a:r>
          </a:p>
          <a:p>
            <a:pPr>
              <a:spcAft>
                <a:spcPts val="880"/>
              </a:spcAft>
            </a:pPr>
            <a:r>
              <a:rPr sz="1300" dirty="0">
                <a:solidFill>
                  <a:srgbClr val="232D3C"/>
                </a:solidFill>
                <a:latin typeface="Microsoft YaHei"/>
              </a:rPr>
              <a:t>4 KB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随机读提升约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3.3 倍</a:t>
            </a:r>
          </a:p>
          <a:p>
            <a:pPr>
              <a:spcAft>
                <a:spcPts val="880"/>
              </a:spcAft>
            </a:pPr>
            <a:r>
              <a:rPr sz="1300" dirty="0">
                <a:solidFill>
                  <a:srgbClr val="232D3C"/>
                </a:solidFill>
                <a:latin typeface="Microsoft YaHei"/>
              </a:rPr>
              <a:t>64 KB / 256 KB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大记录收益回落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>
              <a:spcAft>
                <a:spcPts val="880"/>
              </a:spcAft>
            </a:pPr>
            <a:r>
              <a:rPr sz="1300" dirty="0" err="1">
                <a:solidFill>
                  <a:srgbClr val="232D3C"/>
                </a:solidFill>
                <a:latin typeface="Microsoft YaHei"/>
              </a:rPr>
              <a:t>这是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syscall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固定成本优化，不改变语义路径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01000" y="4956048"/>
            <a:ext cx="2788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>
                <a:solidFill>
                  <a:srgbClr val="D23030"/>
                </a:solidFill>
                <a:latin typeface="Microsoft YaHei"/>
              </a:rPr>
              <a:t>所有快路径都有旁路开关，便于回归与归因。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13 / 事件机制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特色五：统一阻塞—唤醒基础设施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slot registry + generation + keyed wait queue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oll_bi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78090"/>
            <a:ext cx="5623560" cy="413956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629400" y="1389888"/>
            <a:ext cx="4526280" cy="4343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3992" y="1517904"/>
            <a:ext cx="41970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同一种范式承载四类等待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93852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03720" y="1997964"/>
            <a:ext cx="14173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ppoll / pselect6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984248"/>
            <a:ext cx="224260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 err="1">
                <a:solidFill>
                  <a:srgbClr val="232D3C"/>
                </a:solidFill>
                <a:latin typeface="Microsoft YaHei"/>
              </a:rPr>
              <a:t>二维位图注册表，fd</a:t>
            </a:r>
            <a:r>
              <a:rPr sz="1050" b="0" dirty="0">
                <a:solidFill>
                  <a:srgbClr val="232D3C"/>
                </a:solidFill>
                <a:latin typeface="Microsoft YaHei"/>
              </a:rPr>
              <a:t> 行 × poll key 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2596896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03720" y="2656332"/>
            <a:ext cx="14173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FUTEX_WAIT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642616"/>
            <a:ext cx="192200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 err="1">
                <a:solidFill>
                  <a:srgbClr val="232D3C"/>
                </a:solidFill>
                <a:latin typeface="Microsoft YaHei"/>
              </a:rPr>
              <a:t>按用户地址注册，支持</a:t>
            </a:r>
            <a:r>
              <a:rPr sz="1050" b="0" dirty="0">
                <a:solidFill>
                  <a:srgbClr val="232D3C"/>
                </a:solidFill>
                <a:latin typeface="Microsoft YaHei"/>
              </a:rPr>
              <a:t> requeue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3255264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903720" y="3314700"/>
            <a:ext cx="14173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rt_sigtimedwait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300984"/>
            <a:ext cx="1211870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同步等待并消费信号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913632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03720" y="3973068"/>
            <a:ext cx="141732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socket timeout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959352"/>
            <a:ext cx="263052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SO_RCVTIMEO / SO_SNDTIMEO 超时唤醒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5074920"/>
            <a:ext cx="37033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rgbClr val="D23030"/>
                </a:solidFill>
                <a:latin typeface="Microsoft YaHei"/>
              </a:rPr>
              <a:t>代计数器防</a:t>
            </a:r>
            <a:r>
              <a:rPr sz="1200" b="1" dirty="0">
                <a:solidFill>
                  <a:srgbClr val="D23030"/>
                </a:solidFill>
                <a:latin typeface="Microsoft YaHei"/>
              </a:rPr>
              <a:t> </a:t>
            </a:r>
            <a:r>
              <a:rPr sz="1200" b="1" dirty="0" err="1">
                <a:solidFill>
                  <a:srgbClr val="D23030"/>
                </a:solidFill>
                <a:latin typeface="Microsoft YaHei"/>
              </a:rPr>
              <a:t>ABA，锁内收集、锁外唤醒，关闭丢失唤醒窗口</a:t>
            </a:r>
            <a:r>
              <a:rPr sz="1200" b="1" dirty="0">
                <a:solidFill>
                  <a:srgbClr val="D23030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14 / Signal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信号：异步事件如何接回同步阻塞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终端 Ctrl+C、EINTR、SA_RESTART 都落在同一条路径上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2002535"/>
            <a:ext cx="154533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事件到达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331720"/>
            <a:ext cx="15727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647082"/>
                </a:solidFill>
                <a:latin typeface="Microsoft YaHei"/>
              </a:rPr>
              <a:t>tty / kill / timer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79" y="2359152"/>
            <a:ext cx="338329" cy="0"/>
          </a:xfrm>
          <a:prstGeom prst="line">
            <a:avLst/>
          </a:prstGeom>
          <a:ln w="20320">
            <a:solidFill>
              <a:srgbClr val="0F52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62072" y="1874519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26664" y="2002535"/>
            <a:ext cx="154533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置 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2331720"/>
            <a:ext cx="15727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647082"/>
                </a:solidFill>
                <a:latin typeface="Microsoft YaHei"/>
              </a:rPr>
              <a:t>进程级或线程级信号位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36591" y="2359152"/>
            <a:ext cx="338329" cy="0"/>
          </a:xfrm>
          <a:prstGeom prst="line">
            <a:avLst/>
          </a:prstGeom>
          <a:ln w="20320">
            <a:solidFill>
              <a:srgbClr val="0F52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29784" y="1874519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EBEB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94376" y="2002535"/>
            <a:ext cx="154533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摘队唤醒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76088" y="2331720"/>
            <a:ext cx="15727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647082"/>
                </a:solidFill>
                <a:latin typeface="Microsoft YaHei"/>
              </a:rPr>
              <a:t>current_wq_handle / poll key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04303" y="2359152"/>
            <a:ext cx="338329" cy="0"/>
          </a:xfrm>
          <a:prstGeom prst="line">
            <a:avLst/>
          </a:prstGeom>
          <a:ln w="20320">
            <a:solidFill>
              <a:srgbClr val="0F52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397496" y="1874519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62088" y="2002535"/>
            <a:ext cx="154533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返回用户态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0" y="2331720"/>
            <a:ext cx="15727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647082"/>
                </a:solidFill>
                <a:latin typeface="Microsoft YaHei"/>
              </a:rPr>
              <a:t>构造 signal frame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72015" y="2359152"/>
            <a:ext cx="338329" cy="0"/>
          </a:xfrm>
          <a:prstGeom prst="line">
            <a:avLst/>
          </a:prstGeom>
          <a:ln w="20320">
            <a:solidFill>
              <a:srgbClr val="0F52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665208" y="1874519"/>
            <a:ext cx="1874519" cy="960120"/>
          </a:xfrm>
          <a:prstGeom prst="roundRect">
            <a:avLst>
              <a:gd name="adj" fmla="val 8000"/>
            </a:avLst>
          </a:prstGeom>
          <a:solidFill>
            <a:srgbClr val="FFEBEB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29800" y="2002535"/>
            <a:ext cx="1545335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sigreturn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1512" y="2331720"/>
            <a:ext cx="1572768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647082"/>
                </a:solidFill>
                <a:latin typeface="Microsoft YaHei"/>
              </a:rPr>
              <a:t>恢复上下文或重启 syscall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794760"/>
            <a:ext cx="46634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78992" y="3922776"/>
            <a:ext cx="433425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EINTR 判定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70432" y="4292764"/>
            <a:ext cx="4123944" cy="5328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 err="1">
                <a:solidFill>
                  <a:srgbClr val="232D3C"/>
                </a:solidFill>
                <a:latin typeface="Microsoft YaHei"/>
              </a:rPr>
              <a:t>只有“确实会被采取行动”的信号才打断阻塞调用；默认忽略或被屏蔽的信号只挂起</a:t>
            </a:r>
            <a:r>
              <a:rPr sz="1400" b="0" dirty="0">
                <a:solidFill>
                  <a:srgbClr val="232D3C"/>
                </a:solidFill>
                <a:latin typeface="Microsoft YaHei"/>
              </a:rPr>
              <a:t>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3794760"/>
            <a:ext cx="46634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565392" y="3922776"/>
            <a:ext cx="433425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SA_RESTART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1" y="4292764"/>
            <a:ext cx="4138987" cy="5328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dirty="0" err="1">
                <a:solidFill>
                  <a:srgbClr val="232D3C"/>
                </a:solidFill>
                <a:latin typeface="Microsoft YaHei"/>
              </a:rPr>
              <a:t>保存</a:t>
            </a:r>
            <a:r>
              <a:rPr sz="1400" b="0" dirty="0">
                <a:solidFill>
                  <a:srgbClr val="232D3C"/>
                </a:solidFill>
                <a:latin typeface="Microsoft YaHei"/>
              </a:rPr>
              <a:t> orig_a0 与 </a:t>
            </a:r>
            <a:r>
              <a:rPr sz="1400" b="0" dirty="0" err="1">
                <a:solidFill>
                  <a:srgbClr val="232D3C"/>
                </a:solidFill>
                <a:latin typeface="Microsoft YaHei"/>
              </a:rPr>
              <a:t>syscall</a:t>
            </a:r>
            <a:r>
              <a:rPr sz="1400" b="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232D3C"/>
                </a:solidFill>
                <a:latin typeface="Microsoft YaHei"/>
              </a:rPr>
              <a:t>PC；处理函数返回后回退到</a:t>
            </a:r>
            <a:r>
              <a:rPr sz="1400" b="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232D3C"/>
                </a:solidFill>
                <a:latin typeface="Microsoft YaHei"/>
              </a:rPr>
              <a:t>syscall</a:t>
            </a:r>
            <a:r>
              <a:rPr sz="1400" b="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b="0" dirty="0" err="1">
                <a:solidFill>
                  <a:srgbClr val="232D3C"/>
                </a:solidFill>
                <a:latin typeface="Microsoft YaHei"/>
              </a:rPr>
              <a:t>指令重新执行</a:t>
            </a:r>
            <a:r>
              <a:rPr sz="1400" b="0" dirty="0">
                <a:solidFill>
                  <a:srgbClr val="232D3C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15 / 网络栈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特色六：网络栈选择成熟协议核心，自己做好驱动模型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smoltcp + VirtIO-net + socket 文件对象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et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000" y="1307592"/>
            <a:ext cx="5450423" cy="4617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481328"/>
            <a:ext cx="34747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99832" y="1609344"/>
            <a:ext cx="31455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关键设计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029968"/>
            <a:ext cx="2753524" cy="2246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300" dirty="0" err="1">
                <a:solidFill>
                  <a:srgbClr val="232D3C"/>
                </a:solidFill>
                <a:latin typeface="Microsoft YaHei"/>
              </a:rPr>
              <a:t>smoltcp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协作式推进：内核决定何时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poll</a:t>
            </a:r>
          </a:p>
          <a:p>
            <a:pPr marL="285750" indent="-2857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300" dirty="0">
                <a:solidFill>
                  <a:srgbClr val="232D3C"/>
                </a:solidFill>
                <a:latin typeface="Microsoft YaHei"/>
              </a:rPr>
              <a:t>socket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实现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File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trait，天然接入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fd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与 poll</a:t>
            </a:r>
          </a:p>
          <a:p>
            <a:pPr marL="285750" indent="-2857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300" dirty="0" err="1">
                <a:solidFill>
                  <a:srgbClr val="232D3C"/>
                </a:solidFill>
                <a:latin typeface="Microsoft YaHei"/>
              </a:rPr>
              <a:t>read_wait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/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write_wait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复用等待队列</a:t>
            </a:r>
            <a:endParaRPr sz="1300" dirty="0">
              <a:solidFill>
                <a:srgbClr val="232D3C"/>
              </a:solidFill>
              <a:latin typeface="Microsoft YaHei"/>
            </a:endParaRPr>
          </a:p>
          <a:p>
            <a:pPr marL="285750" indent="-2857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300" dirty="0">
                <a:solidFill>
                  <a:srgbClr val="232D3C"/>
                </a:solidFill>
                <a:latin typeface="Microsoft YaHei"/>
              </a:rPr>
              <a:t>AF_UNIX / Raw IPv6 /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netlink</a:t>
            </a:r>
            <a:r>
              <a:rPr sz="13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300" dirty="0" err="1">
                <a:solidFill>
                  <a:srgbClr val="232D3C"/>
                </a:solidFill>
                <a:latin typeface="Microsoft YaHei"/>
              </a:rPr>
              <a:t>兼容层服务真实工具</a:t>
            </a:r>
            <a:endParaRPr sz="13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22747" y="5017205"/>
            <a:ext cx="2788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1" dirty="0" err="1">
                <a:solidFill>
                  <a:srgbClr val="D23030"/>
                </a:solidFill>
                <a:latin typeface="Microsoft YaHei"/>
              </a:rPr>
              <a:t>协议实现成熟，工程重点转向事件驱动与阻塞语义</a:t>
            </a:r>
            <a:r>
              <a:rPr sz="1200" b="1" dirty="0">
                <a:solidFill>
                  <a:srgbClr val="D23030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16 / 网络事件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软中断式 Polling：中断只设标志，重活统一推进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NEED_POLL + poll_at 构成双触发模型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net_poll_wake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2318" y="1353312"/>
            <a:ext cx="4152939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591056"/>
            <a:ext cx="3401568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91271" y="1719072"/>
            <a:ext cx="3072384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为什么这样做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2112952"/>
            <a:ext cx="2761488" cy="239257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400" dirty="0" err="1">
                <a:solidFill>
                  <a:srgbClr val="232D3C"/>
                </a:solidFill>
                <a:latin typeface="Microsoft YaHei"/>
              </a:rPr>
              <a:t>硬中断路径短：应答设备、置位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NEED_POLL</a:t>
            </a:r>
          </a:p>
          <a:p>
            <a:pPr marL="171450" indent="-1714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400" dirty="0" err="1">
                <a:solidFill>
                  <a:srgbClr val="232D3C"/>
                </a:solidFill>
                <a:latin typeface="Microsoft YaHei"/>
              </a:rPr>
              <a:t>定时器按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smoltcp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poll_at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推进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TCP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时间事件</a:t>
            </a:r>
            <a:endParaRPr sz="1400" dirty="0">
              <a:solidFill>
                <a:srgbClr val="232D3C"/>
              </a:solidFill>
              <a:latin typeface="Microsoft YaHei"/>
            </a:endParaRPr>
          </a:p>
          <a:p>
            <a:pPr marL="171450" indent="-1714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400" dirty="0" err="1">
                <a:solidFill>
                  <a:srgbClr val="232D3C"/>
                </a:solidFill>
                <a:latin typeface="Microsoft YaHei"/>
              </a:rPr>
              <a:t>poll_once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400" dirty="0" err="1">
                <a:solidFill>
                  <a:srgbClr val="232D3C"/>
                </a:solidFill>
                <a:latin typeface="Microsoft YaHei"/>
              </a:rPr>
              <a:t>后统一唤醒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socket wait 与 poll registry</a:t>
            </a:r>
          </a:p>
          <a:p>
            <a:pPr marL="171450" indent="-171450">
              <a:lnSpc>
                <a:spcPct val="120000"/>
              </a:lnSpc>
              <a:spcAft>
                <a:spcPts val="880"/>
              </a:spcAft>
              <a:buFont typeface="Wingdings" panose="05000000000000000000" pitchFamily="2" charset="2"/>
              <a:buChar char="Ø"/>
            </a:pPr>
            <a:r>
              <a:rPr sz="1400" dirty="0" err="1">
                <a:solidFill>
                  <a:srgbClr val="232D3C"/>
                </a:solidFill>
                <a:latin typeface="Microsoft YaHei"/>
              </a:rPr>
              <a:t>预算机制平衡低延迟和不霸占</a:t>
            </a:r>
            <a:r>
              <a:rPr sz="1400" dirty="0">
                <a:solidFill>
                  <a:srgbClr val="232D3C"/>
                </a:solidFill>
                <a:latin typeface="Microsoft YaHei"/>
              </a:rPr>
              <a:t> CPU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17 / HAL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跨架构 HAL：把硬件事实压到 trait 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内核主体不直接感知 RISC-V 还是 LoongArch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hal_paging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254" y="1298448"/>
            <a:ext cx="6920812" cy="46177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73568" y="1463040"/>
            <a:ext cx="31546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0" y="1591056"/>
            <a:ext cx="28254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封装差异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2787445" cy="21002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0000"/>
              </a:lnSpc>
              <a:spcAft>
                <a:spcPts val="880"/>
              </a:spcAft>
            </a:pPr>
            <a:r>
              <a:rPr sz="1200" b="1" dirty="0" err="1">
                <a:solidFill>
                  <a:srgbClr val="232D3C"/>
                </a:solidFill>
                <a:latin typeface="Microsoft YaHei"/>
              </a:rPr>
              <a:t>TrapMachine：</a:t>
            </a:r>
            <a:r>
              <a:rPr sz="1200" dirty="0" err="1">
                <a:solidFill>
                  <a:srgbClr val="232D3C"/>
                </a:solidFill>
                <a:latin typeface="Microsoft YaHei"/>
              </a:rPr>
              <a:t>陷阱原因、返回用户态、syscall</a:t>
            </a:r>
            <a:r>
              <a:rPr sz="12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200" dirty="0" err="1">
                <a:solidFill>
                  <a:srgbClr val="232D3C"/>
                </a:solidFill>
                <a:latin typeface="Microsoft YaHei"/>
              </a:rPr>
              <a:t>长度</a:t>
            </a:r>
            <a:endParaRPr sz="1200" dirty="0">
              <a:solidFill>
                <a:srgbClr val="232D3C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80"/>
              </a:spcAft>
            </a:pPr>
            <a:r>
              <a:rPr sz="1200" b="1" dirty="0" err="1">
                <a:solidFill>
                  <a:srgbClr val="232D3C"/>
                </a:solidFill>
                <a:latin typeface="Microsoft YaHei"/>
              </a:rPr>
              <a:t>PagingArch：</a:t>
            </a:r>
            <a:r>
              <a:rPr sz="1200" dirty="0" err="1">
                <a:solidFill>
                  <a:srgbClr val="232D3C"/>
                </a:solidFill>
                <a:latin typeface="Microsoft YaHei"/>
              </a:rPr>
              <a:t>PTE</a:t>
            </a:r>
            <a:r>
              <a:rPr sz="12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200" dirty="0" err="1">
                <a:solidFill>
                  <a:srgbClr val="232D3C"/>
                </a:solidFill>
                <a:latin typeface="Microsoft YaHei"/>
              </a:rPr>
              <a:t>编码、token、TLB、页表索引</a:t>
            </a:r>
            <a:endParaRPr sz="1200" dirty="0">
              <a:solidFill>
                <a:srgbClr val="232D3C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80"/>
              </a:spcAft>
            </a:pPr>
            <a:r>
              <a:rPr sz="1200" b="1" dirty="0" err="1">
                <a:solidFill>
                  <a:srgbClr val="232D3C"/>
                </a:solidFill>
                <a:latin typeface="Microsoft YaHei"/>
              </a:rPr>
              <a:t>SignalAbi：</a:t>
            </a:r>
            <a:r>
              <a:rPr sz="1200" dirty="0" err="1">
                <a:solidFill>
                  <a:srgbClr val="232D3C"/>
                </a:solidFill>
                <a:latin typeface="Microsoft YaHei"/>
              </a:rPr>
              <a:t>ucontext</a:t>
            </a:r>
            <a:r>
              <a:rPr sz="1200" dirty="0">
                <a:solidFill>
                  <a:srgbClr val="232D3C"/>
                </a:solidFill>
                <a:latin typeface="Microsoft YaHei"/>
              </a:rPr>
              <a:t> / </a:t>
            </a:r>
            <a:r>
              <a:rPr sz="1200" dirty="0" err="1">
                <a:solidFill>
                  <a:srgbClr val="232D3C"/>
                </a:solidFill>
                <a:latin typeface="Microsoft YaHei"/>
              </a:rPr>
              <a:t>rt_sigaction</a:t>
            </a:r>
            <a:r>
              <a:rPr sz="12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200" dirty="0" err="1">
                <a:solidFill>
                  <a:srgbClr val="232D3C"/>
                </a:solidFill>
                <a:latin typeface="Microsoft YaHei"/>
              </a:rPr>
              <a:t>字节布局</a:t>
            </a:r>
            <a:endParaRPr sz="1200" dirty="0">
              <a:solidFill>
                <a:srgbClr val="232D3C"/>
              </a:solidFill>
              <a:latin typeface="Microsoft YaHei"/>
            </a:endParaRPr>
          </a:p>
          <a:p>
            <a:pPr>
              <a:lnSpc>
                <a:spcPct val="120000"/>
              </a:lnSpc>
              <a:spcAft>
                <a:spcPts val="880"/>
              </a:spcAft>
            </a:pPr>
            <a:r>
              <a:rPr sz="1200" b="1" dirty="0" err="1">
                <a:solidFill>
                  <a:srgbClr val="232D3C"/>
                </a:solidFill>
                <a:latin typeface="Microsoft YaHei"/>
              </a:rPr>
              <a:t>Platform：</a:t>
            </a:r>
            <a:r>
              <a:rPr sz="1200" dirty="0" err="1">
                <a:solidFill>
                  <a:srgbClr val="232D3C"/>
                </a:solidFill>
                <a:latin typeface="Microsoft YaHei"/>
              </a:rPr>
              <a:t>timer、IPI、SMP</a:t>
            </a:r>
            <a:r>
              <a:rPr sz="1200" dirty="0">
                <a:solidFill>
                  <a:srgbClr val="232D3C"/>
                </a:solidFill>
                <a:latin typeface="Microsoft YaHei"/>
              </a:rPr>
              <a:t> </a:t>
            </a:r>
            <a:r>
              <a:rPr sz="1200" dirty="0" err="1">
                <a:solidFill>
                  <a:srgbClr val="232D3C"/>
                </a:solidFill>
                <a:latin typeface="Microsoft YaHei"/>
              </a:rPr>
              <a:t>启动、中断控制器</a:t>
            </a:r>
            <a:endParaRPr sz="120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11312" y="4956048"/>
            <a:ext cx="2633669" cy="4244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dirty="0" err="1">
                <a:solidFill>
                  <a:srgbClr val="D23030"/>
                </a:solidFill>
                <a:latin typeface="Microsoft YaHei"/>
              </a:rPr>
              <a:t>LoongArch</a:t>
            </a:r>
            <a:r>
              <a:rPr sz="1200" b="1" dirty="0">
                <a:solidFill>
                  <a:srgbClr val="D23030"/>
                </a:solidFill>
                <a:latin typeface="Microsoft YaHei"/>
              </a:rPr>
              <a:t> </a:t>
            </a:r>
            <a:r>
              <a:rPr sz="1200" b="1" dirty="0" err="1">
                <a:solidFill>
                  <a:srgbClr val="D23030"/>
                </a:solidFill>
                <a:latin typeface="Microsoft YaHei"/>
              </a:rPr>
              <a:t>支持验证了抽象边界：主体代码复用，移植工作有界</a:t>
            </a:r>
            <a:r>
              <a:rPr sz="1200" b="1" dirty="0">
                <a:solidFill>
                  <a:srgbClr val="D23030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18 / 兼容性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Linux 兼容面：优先覆盖用户程序依赖的关键语义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不是追求全量复制，而是把常用路径做深做对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196596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1636776"/>
            <a:ext cx="16367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进程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2121408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12264"/>
            <a:ext cx="131766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232D3C"/>
                </a:solidFill>
                <a:latin typeface="Microsoft YaHei"/>
              </a:rPr>
              <a:t>fork / clone / </a:t>
            </a:r>
            <a:r>
              <a:rPr sz="1050" b="0" dirty="0" err="1">
                <a:solidFill>
                  <a:srgbClr val="232D3C"/>
                </a:solidFill>
                <a:latin typeface="Microsoft YaHei"/>
              </a:rPr>
              <a:t>execve</a:t>
            </a:r>
            <a:endParaRPr sz="1050" b="0" dirty="0">
              <a:solidFill>
                <a:srgbClr val="232D3C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7512" y="2688336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679192"/>
            <a:ext cx="1644681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 dirty="0">
                <a:solidFill>
                  <a:srgbClr val="232D3C"/>
                </a:solidFill>
                <a:latin typeface="Microsoft YaHei"/>
              </a:rPr>
              <a:t>wait4 / zombie / reparent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255264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246120"/>
            <a:ext cx="121828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进程组 / 会话 / 凭据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1508760"/>
            <a:ext cx="196596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53512" y="1636776"/>
            <a:ext cx="16367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文件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2121408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2112264"/>
            <a:ext cx="114614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open / dup / fcntl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3512" y="2688336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72968" y="2679192"/>
            <a:ext cx="1389804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procfs / tmpfs / devfs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53512" y="3255264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72968" y="3246120"/>
            <a:ext cx="121828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pipe / tty / symlink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74920" y="1508760"/>
            <a:ext cx="196596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39512" y="1636776"/>
            <a:ext cx="16367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内存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2121408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8968" y="2112264"/>
            <a:ext cx="1481175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mmap / munmap / brk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39512" y="2688336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8968" y="2679192"/>
            <a:ext cx="1381789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COW / lazy allocation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39512" y="3255264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58968" y="3246120"/>
            <a:ext cx="117019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file-backed mmap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60920" y="1508760"/>
            <a:ext cx="196596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525512" y="1636776"/>
            <a:ext cx="16367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事件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121408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44968" y="2112264"/>
            <a:ext cx="109485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signal / sigreturn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2688336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44968" y="2679192"/>
            <a:ext cx="1463542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futex / ppoll / pselect6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3255264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44968" y="3246120"/>
            <a:ext cx="133369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SA_RESTART / EINTR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46920" y="1508760"/>
            <a:ext cx="1965960" cy="3611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11512" y="1636776"/>
            <a:ext cx="16367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网络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11512" y="2121408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30968" y="2112264"/>
            <a:ext cx="118942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TCP / UDP sockets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11512" y="2688336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0968" y="2679192"/>
            <a:ext cx="1546898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AF_UNIX / SCM_RIGHTS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11512" y="3255264"/>
            <a:ext cx="137160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1">
                <a:solidFill>
                  <a:srgbClr val="D23030"/>
                </a:solidFill>
                <a:latin typeface="Microsoft YaHei"/>
              </a:rPr>
              <a:t>■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30968" y="3246120"/>
            <a:ext cx="1631857" cy="1615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50" b="0">
                <a:solidFill>
                  <a:srgbClr val="232D3C"/>
                </a:solidFill>
                <a:latin typeface="Microsoft YaHei"/>
              </a:rPr>
              <a:t>netlink / packet / AF_ALG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650992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D23030"/>
                </a:solidFill>
                <a:latin typeface="Microsoft YaHei"/>
              </a:rPr>
              <a:t>答辩要点：兼容性来自对象模型与生命周期，而不是 syscall 清单堆叠。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19 / 工具链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敏捷性能观测：优化必须可解释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/proc/io_perf 看事件，perf_probe 看耗时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erf_probe_agile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350427"/>
            <a:ext cx="5989320" cy="238574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949440" y="1481328"/>
            <a:ext cx="4160520" cy="4069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14032" y="1609344"/>
            <a:ext cx="38313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两类工具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965960"/>
            <a:ext cx="15727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15784" y="2130552"/>
            <a:ext cx="128016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0F52BA"/>
                </a:solidFill>
                <a:latin typeface="Microsoft YaHei"/>
              </a:rPr>
              <a:t>io_perf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2" y="2587752"/>
            <a:ext cx="124358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长期语义事件计数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965960"/>
            <a:ext cx="1572768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336024" y="2130552"/>
            <a:ext cx="128016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400" b="1">
                <a:solidFill>
                  <a:srgbClr val="D23030"/>
                </a:solidFill>
                <a:latin typeface="Microsoft YaHei"/>
              </a:rPr>
              <a:t>probe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2" y="2587752"/>
            <a:ext cx="1243584" cy="4114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47082"/>
                </a:solidFill>
                <a:latin typeface="Microsoft YaHei"/>
              </a:rPr>
              <a:t>短期命名耗时探针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3364992"/>
            <a:ext cx="3429000" cy="12344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热路径只做原子计数，读取 procfs 时再渲染</a:t>
            </a:r>
          </a:p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probe 可运行期开关与 reset，正式性能用无探针构建确认</a:t>
            </a:r>
          </a:p>
          <a:p>
            <a:pPr>
              <a:spcAft>
                <a:spcPts val="880"/>
              </a:spcAft>
            </a:pPr>
            <a:r>
              <a:rPr sz="1200">
                <a:solidFill>
                  <a:srgbClr val="232D3C"/>
                </a:solidFill>
                <a:latin typeface="Microsoft YaHei"/>
              </a:rPr>
              <a:t>每轮围绕一个假设插桩、复现、读数、保留或回退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20 / 团队协作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协作方式：专项分工 + 跨模块共同收敛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功能补齐、专项重构、测试调优三个阶段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ntribu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830" y="1298448"/>
            <a:ext cx="422882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554480"/>
            <a:ext cx="4846320" cy="841248"/>
          </a:xfrm>
          <a:prstGeom prst="roundRect">
            <a:avLst>
              <a:gd name="adj" fmla="val 8000"/>
            </a:avLst>
          </a:prstGeom>
          <a:solidFill>
            <a:srgbClr val="E4EEFF"/>
          </a:solidFill>
          <a:ln w="127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53912" y="1682496"/>
            <a:ext cx="45171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早期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1719072"/>
            <a:ext cx="3383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Microsoft YaHei"/>
              </a:rPr>
              <a:t>Basic Test 驱动
快速补齐骨架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2816352"/>
            <a:ext cx="4846320" cy="841248"/>
          </a:xfrm>
          <a:prstGeom prst="roundRect">
            <a:avLst>
              <a:gd name="adj" fmla="val 8000"/>
            </a:avLst>
          </a:prstGeom>
          <a:solidFill>
            <a:srgbClr val="E4EEFF"/>
          </a:solidFill>
          <a:ln w="127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53912" y="2944368"/>
            <a:ext cx="45171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中期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980944"/>
            <a:ext cx="3383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Microsoft YaHei"/>
              </a:rPr>
              <a:t>调度/进程/FS/MM/Net/HAL
长期方向分工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4078224"/>
            <a:ext cx="4846320" cy="841248"/>
          </a:xfrm>
          <a:prstGeom prst="roundRect">
            <a:avLst>
              <a:gd name="adj" fmla="val 8000"/>
            </a:avLst>
          </a:prstGeom>
          <a:solidFill>
            <a:srgbClr val="FFEBEB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53912" y="4206240"/>
            <a:ext cx="45171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后期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4242816"/>
            <a:ext cx="338328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200" b="0">
                <a:solidFill>
                  <a:srgbClr val="232D3C"/>
                </a:solidFill>
                <a:latin typeface="Microsoft YaHei"/>
              </a:rPr>
              <a:t>性能瓶颈、并发竞态
跨架构差异共同调试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5230368"/>
            <a:ext cx="4617720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D23030"/>
                </a:solidFill>
                <a:latin typeface="Microsoft YaHei"/>
              </a:rPr>
              <a:t>自动化测试和可复现实验让主分支始终保持基本可用。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21 / 不足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诚实的边界：当前限制与取舍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实验内核走向真实负载时必须面对的成本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9808" y="1444752"/>
            <a:ext cx="4709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72768"/>
            <a:ext cx="43799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兼容性覆盖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4206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Microsoft YaHei"/>
              </a:rPr>
              <a:t>部分 ioctl、socket option、特殊文件语义仍需补齐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444752"/>
            <a:ext cx="4709160" cy="822960"/>
          </a:xfrm>
          <a:prstGeom prst="roundRect">
            <a:avLst>
              <a:gd name="adj" fmla="val 8000"/>
            </a:avLst>
          </a:prstGeom>
          <a:solidFill>
            <a:srgbClr val="FFEBEB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572768"/>
            <a:ext cx="43799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缓存分层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828800"/>
            <a:ext cx="4206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Microsoft YaHei"/>
              </a:rPr>
              <a:t>page cache 与 block cache 存在文件数据双重缓存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2743200"/>
            <a:ext cx="4709160" cy="822960"/>
          </a:xfrm>
          <a:prstGeom prst="roundRect">
            <a:avLst>
              <a:gd name="adj" fmla="val 8000"/>
            </a:avLst>
          </a:prstGeom>
          <a:solidFill>
            <a:srgbClr val="FFEBEB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871216"/>
            <a:ext cx="43799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网络扩展性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127248"/>
            <a:ext cx="4206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Microsoft YaHei"/>
              </a:rPr>
              <a:t>单一 NET_STACK 锁与逐帧拷贝限制多连接吞吐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743200"/>
            <a:ext cx="4709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871216"/>
            <a:ext cx="437997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并发长尾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27248"/>
            <a:ext cx="420624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Microsoft YaHei"/>
              </a:rPr>
              <a:t>极端时序下仍需更多压力测试和不变式检查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4041648"/>
            <a:ext cx="101498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169664"/>
            <a:ext cx="982065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评估体系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25696"/>
            <a:ext cx="964692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000" b="0">
                <a:solidFill>
                  <a:srgbClr val="232D3C"/>
                </a:solidFill>
                <a:latin typeface="Microsoft YaHei"/>
              </a:rPr>
              <a:t>benchmark 尚需长期化、自动化沉淀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632704"/>
            <a:ext cx="100584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D23030"/>
                </a:solidFill>
                <a:latin typeface="Microsoft YaHei"/>
              </a:rPr>
              <a:t>取舍原则：先保证结构清晰、语义可解释、测试可通过，再逐步降成本。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22 / 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后续路线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先补语义，再降成本，最后扩展规模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874519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33272" y="2002535"/>
            <a:ext cx="26883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近期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88720" y="2212848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0F52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2272284"/>
            <a:ext cx="713232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近期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2728" y="2788920"/>
            <a:ext cx="228600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Microsoft YaHei"/>
              </a:rPr>
              <a:t>补齐 Linux 兼容缺口
清理临时分支
增加回归测试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874519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36592" y="2002535"/>
            <a:ext cx="26883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中期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2212848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92040" y="2272284"/>
            <a:ext cx="713232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中期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788920"/>
            <a:ext cx="228600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Microsoft YaHei"/>
              </a:rPr>
              <a:t>统一缓存与 I/O 热路径
降低全局锁竞争
沉淀 benchmark 流程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19" y="1874519"/>
            <a:ext cx="30175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827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1" y="2002535"/>
            <a:ext cx="268833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长期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59" y="2212848"/>
            <a:ext cx="713232" cy="292608"/>
          </a:xfrm>
          <a:prstGeom prst="roundRect">
            <a:avLst>
              <a:gd name="adj" fmla="val 50000"/>
            </a:avLst>
          </a:prstGeom>
          <a:solidFill>
            <a:srgbClr val="0827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59" y="2272284"/>
            <a:ext cx="713232" cy="1371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长期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7" y="2788920"/>
            <a:ext cx="228600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0">
                <a:solidFill>
                  <a:srgbClr val="232D3C"/>
                </a:solidFill>
                <a:latin typeface="Microsoft YaHei"/>
              </a:rPr>
              <a:t>扩展平台与设备支持
系统化验证并发不变式
形成完整实验平台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5230368"/>
            <a:ext cx="1001268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D23030"/>
                </a:solidFill>
                <a:latin typeface="Microsoft YaHei"/>
              </a:rPr>
              <a:t>目标不是继续堆功能，而是在更复杂负载和更强并发下保持一致、稳定、可解释。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8600"/>
            <a:ext cx="237744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900" b="1">
                <a:solidFill>
                  <a:srgbClr val="D23030"/>
                </a:solidFill>
                <a:latin typeface="Microsoft YaHei"/>
              </a:rPr>
              <a:t>23 /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8046720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08275E"/>
                </a:solidFill>
                <a:latin typeface="Microsoft YaHei"/>
              </a:rPr>
              <a:t>总结：CosmOS 的核心特色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96112"/>
            <a:ext cx="8961120" cy="31089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47082"/>
                </a:solidFill>
                <a:latin typeface="Microsoft YaHei"/>
              </a:rPr>
              <a:t>用共享机制管理复杂性，用观测闭环约束优化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179576"/>
            <a:ext cx="1143000" cy="36576"/>
          </a:xfrm>
          <a:prstGeom prst="rect">
            <a:avLst/>
          </a:prstGeom>
          <a:solidFill>
            <a:srgbClr val="D2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77240" y="150876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E4EEFF"/>
          </a:solidFill>
          <a:ln w="127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636776"/>
            <a:ext cx="44256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接近 Linux 的用户程序运行环境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020824"/>
            <a:ext cx="4206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Microsoft YaHei"/>
              </a:rPr>
              <a:t>进程、文件、信号、网络、设备语义协同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50876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82512" y="1636776"/>
            <a:ext cx="44256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SMP 下可推理的执行与唤醒协议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020824"/>
            <a:ext cx="4206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Microsoft YaHei"/>
              </a:rPr>
              <a:t>per-hart 调度、三段式阻塞、on_cpu 发布语义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10896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E4EEFF"/>
          </a:solidFill>
          <a:ln w="12700">
            <a:solidFill>
              <a:srgbClr val="0F52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1832" y="3236976"/>
            <a:ext cx="44256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贯穿内核的数据面与事件面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621024"/>
            <a:ext cx="4206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Microsoft YaHei"/>
              </a:rPr>
              <a:t>VMA/PageTable/TLB，File/Poll/Signal/Socket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108960"/>
            <a:ext cx="47548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82512" y="3236976"/>
            <a:ext cx="4425696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08275E"/>
                </a:solidFill>
                <a:latin typeface="Microsoft YaHei"/>
              </a:rPr>
              <a:t>跨架构复用和性能可解释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3621024"/>
            <a:ext cx="420624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100" b="0">
                <a:solidFill>
                  <a:srgbClr val="232D3C"/>
                </a:solidFill>
                <a:latin typeface="Microsoft YaHei"/>
              </a:rPr>
              <a:t>HAL trait 边界，io_perf 与 perf_probe 闭环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103327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D23030"/>
                </a:solidFill>
                <a:latin typeface="Microsoft YaHei"/>
              </a:rPr>
              <a:t>一句话收束：CosmOS 已从教学骨架演进为一个多子系统协同的 OS 实验平台。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6510528"/>
            <a:ext cx="438912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800" b="0">
                <a:solidFill>
                  <a:srgbClr val="647082"/>
                </a:solidFill>
                <a:latin typeface="Microsoft YaHei"/>
              </a:rPr>
              <a:t>CosmOS · 项目特色展示与汇报答辩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09960" y="6473952"/>
            <a:ext cx="502920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900" b="1">
                <a:solidFill>
                  <a:srgbClr val="647082"/>
                </a:solidFill>
                <a:latin typeface="Microsoft YaHei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4389120" cy="6400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4800" b="1">
                <a:solidFill>
                  <a:srgbClr val="08275E"/>
                </a:solidFill>
                <a:latin typeface="Aptos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901952"/>
            <a:ext cx="274320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2500" b="1">
                <a:solidFill>
                  <a:srgbClr val="232D3C"/>
                </a:solidFill>
                <a:latin typeface="Microsoft YaHei"/>
              </a:rPr>
              <a:t>感谢聆听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78608"/>
            <a:ext cx="804672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0">
                <a:solidFill>
                  <a:srgbClr val="647082"/>
                </a:solidFill>
                <a:latin typeface="Microsoft YaHei"/>
              </a:rPr>
              <a:t>欢迎围绕调度、内存、文件系统、事件机制、网络栈与 HAL 提问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170432"/>
            <a:ext cx="4297680" cy="3794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1627632"/>
            <a:ext cx="1828800" cy="2560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500" b="1">
                <a:solidFill>
                  <a:srgbClr val="D23030"/>
                </a:solidFill>
                <a:latin typeface="Microsoft YaHei"/>
              </a:rPr>
              <a:t>答辩备忘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4032" y="2212848"/>
            <a:ext cx="3291840" cy="1600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880"/>
              </a:spcAft>
            </a:pPr>
            <a:r>
              <a:rPr sz="1300">
                <a:solidFill>
                  <a:srgbClr val="232D3C"/>
                </a:solidFill>
                <a:latin typeface="Microsoft YaHei"/>
              </a:rPr>
              <a:t>讲设计主线，不背系统调用清单</a:t>
            </a:r>
          </a:p>
          <a:p>
            <a:pPr>
              <a:spcAft>
                <a:spcPts val="880"/>
              </a:spcAft>
            </a:pPr>
            <a:r>
              <a:rPr sz="1300">
                <a:solidFill>
                  <a:srgbClr val="232D3C"/>
                </a:solidFill>
                <a:latin typeface="Microsoft YaHei"/>
              </a:rPr>
              <a:t>讲不变式，说明为什么并发路径安全</a:t>
            </a:r>
          </a:p>
          <a:p>
            <a:pPr>
              <a:spcAft>
                <a:spcPts val="880"/>
              </a:spcAft>
            </a:pPr>
            <a:r>
              <a:rPr sz="1300">
                <a:solidFill>
                  <a:srgbClr val="232D3C"/>
                </a:solidFill>
                <a:latin typeface="Microsoft YaHei"/>
              </a:rPr>
              <a:t>讲数据归因，说明性能优化如何验证</a:t>
            </a:r>
          </a:p>
          <a:p>
            <a:pPr>
              <a:spcAft>
                <a:spcPts val="880"/>
              </a:spcAft>
            </a:pPr>
            <a:r>
              <a:rPr sz="1300">
                <a:solidFill>
                  <a:srgbClr val="232D3C"/>
                </a:solidFill>
                <a:latin typeface="Microsoft YaHei"/>
              </a:rPr>
              <a:t>主动承认边界，给出后续路线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1545</Words>
  <Application>Microsoft Office PowerPoint</Application>
  <PresentationFormat>宽屏</PresentationFormat>
  <Paragraphs>385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Microsoft YaHei</vt:lpstr>
      <vt:lpstr>Aptos</vt:lpstr>
      <vt:lpstr>Arial</vt:lpstr>
      <vt:lpstr>Calibri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CosmOS 项目特色展示与汇报答辩</dc:title>
  <dc:subject>Operating system project showcase</dc:subject>
  <dc:creator>CosmOS Team</dc:creator>
  <cp:keywords/>
  <dc:description>generated using python-pptx</dc:description>
  <cp:lastModifiedBy>Kyle Mao</cp:lastModifiedBy>
  <cp:revision>2</cp:revision>
  <dcterms:created xsi:type="dcterms:W3CDTF">2013-01-27T09:14:16Z</dcterms:created>
  <dcterms:modified xsi:type="dcterms:W3CDTF">2026-06-30T13:37:10Z</dcterms:modified>
  <cp:category/>
</cp:coreProperties>
</file>